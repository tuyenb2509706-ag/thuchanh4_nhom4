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4" r:id="rId10"/>
    <p:sldId id="277" r:id="rId11"/>
    <p:sldId id="280" r:id="rId12"/>
    <p:sldId id="281" r:id="rId13"/>
    <p:sldId id="279" r:id="rId14"/>
    <p:sldId id="282" r:id="rId15"/>
    <p:sldId id="283" r:id="rId16"/>
  </p:sldIdLst>
  <p:sldSz cx="12192000" cy="6858000"/>
  <p:notesSz cx="6858000" cy="9144000"/>
  <p:custShowLst>
    <p:custShow name="KHTN" id="0">
      <p:sldLst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6"/>
      </p:sldLst>
    </p:custShow>
    <p:custShow name="CNTT" id="1">
      <p:sldLst>
        <p:sld r:id="rId3"/>
        <p:sld r:id="rId4"/>
        <p:sld r:id="rId5"/>
        <p:sld r:id="rId6"/>
        <p:sld r:id="rId7"/>
        <p:sld r:id="rId12"/>
        <p:sld r:id="rId13"/>
        <p:sld r:id="rId14"/>
        <p:sld r:id="rId15"/>
        <p:sld r:id="rId16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7335D-9340-4D36-AD67-A03BB2F8D9C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29B1F-481C-4F97-AE0C-B7D5BC8E5B1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20644-2B13-4B1A-811F-D3FAE664C7E8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/>
            </a:lvl1pPr>
          </a:lstStyle>
          <a:p>
            <a:fld id="{6D22F896-40B5-4ADD-8801-0D06FADFA095}" type="slidenum">
              <a:rPr lang="en-US" smtClean="0"/>
            </a:fld>
            <a:endParaRPr lang="en-US" sz="1200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buFont typeface="Times New Roman" panose="02020603050405020304" pitchFamily="18" charset="0"/>
              <a:buChar char="⁃"/>
              <a:defRPr sz="28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buFont typeface="Times New Roman" panose="02020603050405020304" pitchFamily="18" charset="0"/>
              <a:buChar char="⁺"/>
              <a:defRPr sz="24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buFont typeface="Wingdings" panose="05000000000000000000" pitchFamily="2" charset="2"/>
              <a:buChar char="§"/>
              <a:defRPr sz="22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buFont typeface="Wingdings" panose="05000000000000000000" pitchFamily="2" charset="2"/>
              <a:buChar char="ü"/>
              <a:defRPr sz="2000" baseline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7D238-2A44-4DC8-8EFA-059BFEB246D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vi-VN" dirty="0"/>
              <a:t>Giới thiệu Đại học Cần Thơ</a:t>
            </a:r>
            <a:endParaRPr lang="en-US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2648F-0DBD-4B68-900C-7F6748FBFF64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EDD8F-2838-4592-AFC2-05F430624A0D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11031-9F24-4BA8-9880-7C2CAF6C6B96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56BC0-5093-4F4E-8211-7A3D589D528F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7E04A-CBEC-490B-BCE5-EF97F9B31134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9C80-BF9A-493C-AFE5-CEB23240C6BC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055D1-741E-42F0-AC76-F609A8094591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10E-D84A-4E50-80BC-E4B3F858D4FD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77C6-8C87-4221-93AA-68802C6AA9EF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38ACF-46D0-4F5C-87D2-B1CB2D9D7C26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34F58-6056-4DD6-A5EC-E7CB5FC5FFAD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B22F-AF3E-416A-8DB8-37964F821158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4FCB-6966-4203-A0C7-FF729E4662B3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9EF2F-E54A-4677-8C4B-56E899C2BC9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193D5-E064-4585-9DF5-0E4CD21B0ECD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B6E64-79CE-4DBE-8C4F-D403F4D37F98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3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 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B6B6E64-79CE-4DBE-8C4F-D403F4D37F98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16364" y="5883275"/>
            <a:ext cx="597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523718" y="173384"/>
            <a:ext cx="1509014" cy="143178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rgbClr val="FF0000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Segoe UI" panose="020B0502040204020203" charset="0"/>
        <a:buChar char="-"/>
        <a:defRPr sz="2800" u="none" strike="noStrike" kern="1200" cap="none" spc="0" normalizeH="0" baseline="0">
          <a:solidFill>
            <a:schemeClr val="tx1"/>
          </a:solidFill>
          <a:effectLst/>
          <a:uFillTx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257300" indent="-3429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SimSun" panose="02010600030101010101" pitchFamily="2" charset="-122"/>
        <a:buChar char="＋"/>
        <a:defRPr sz="2400" u="none" strike="noStrike" kern="1200" cap="none" spc="0" normalizeH="0" baseline="0">
          <a:solidFill>
            <a:schemeClr val="tx1"/>
          </a:solidFill>
          <a:effectLst/>
          <a:uFillTx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714500" indent="-3429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charset="0"/>
        <a:buChar char="§"/>
        <a:defRPr sz="2200" u="none" strike="noStrike" kern="1200" cap="none" spc="0" normalizeH="0" baseline="0">
          <a:solidFill>
            <a:schemeClr val="tx1"/>
          </a:solidFill>
          <a:effectLst/>
          <a:uFillTx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charset="0"/>
        <a:buChar char="ü"/>
        <a:defRPr sz="2000" u="none" strike="noStrike" kern="1200" cap="none" spc="0" normalizeH="0" baseline="0">
          <a:solidFill>
            <a:schemeClr val="tx1"/>
          </a:solidFill>
          <a:effectLst/>
          <a:uFillTx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cit.ctu.edu.vn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cit.ctu.edu.vn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3943" y="1300786"/>
            <a:ext cx="5998028" cy="1671014"/>
          </a:xfrm>
        </p:spPr>
        <p:txBody>
          <a:bodyPr>
            <a:normAutofit/>
          </a:bodyPr>
          <a:lstStyle/>
          <a:p>
            <a:r>
              <a:rPr lang="en-US" dirty="0"/>
              <a:t>ĐẠI HỌC CẦN TH</a:t>
            </a:r>
            <a:r>
              <a:rPr lang="vi-VN" dirty="0"/>
              <a:t>Ơ</a:t>
            </a:r>
            <a:r>
              <a:rPr lang="en-US" dirty="0"/>
              <a:t> - QUÁ TRÌNH HÌNH THÀNH VÀ PHÁT TRIỂN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Times New Roman (Headings)"/>
              </a:rPr>
              <a:t>TS. NGUYỂN VĂN A</a:t>
            </a:r>
            <a:endParaRPr lang="en-US" b="1" dirty="0">
              <a:latin typeface="Times New Roman (Headings)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NỘI DUNG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THỜI KỲ VIỆN ĐẠI HỌC CẦN TH</a:t>
            </a:r>
            <a:r>
              <a:rPr lang="vi-VN" b="1" dirty="0"/>
              <a:t>Ơ</a:t>
            </a:r>
            <a:r>
              <a:rPr lang="en-US" b="1" dirty="0"/>
              <a:t> (1966 – 1975)</a:t>
            </a:r>
            <a:endParaRPr lang="en-US" b="1" dirty="0"/>
          </a:p>
          <a:p>
            <a:r>
              <a:rPr lang="en-US" b="1" dirty="0"/>
              <a:t>ĐHCT GIAI ĐOẠN SAU NĂM 1975</a:t>
            </a:r>
            <a:endParaRPr lang="en-US" b="1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685" y="618517"/>
            <a:ext cx="10636542" cy="1596177"/>
          </a:xfrm>
        </p:spPr>
        <p:txBody>
          <a:bodyPr/>
          <a:lstStyle/>
          <a:p>
            <a:r>
              <a:rPr lang="en-US" b="1" dirty="0"/>
              <a:t>THỜI KỲ VIỆN ĐẠI HỌC CẦN TH</a:t>
            </a:r>
            <a:r>
              <a:rPr lang="vi-VN" b="1" dirty="0"/>
              <a:t>Ơ</a:t>
            </a:r>
            <a:r>
              <a:rPr lang="en-US" b="1" dirty="0"/>
              <a:t> (1966 – 1975)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Đ</a:t>
            </a:r>
            <a:r>
              <a:rPr lang="vi-VN" dirty="0"/>
              <a:t>ƯỢC</a:t>
            </a:r>
            <a:r>
              <a:rPr lang="en-US" dirty="0"/>
              <a:t> THÀNH LẬP NGÀY 31 THÁNG 03 NĂM 1966</a:t>
            </a:r>
            <a:endParaRPr lang="en-US" dirty="0"/>
          </a:p>
          <a:p>
            <a:r>
              <a:rPr lang="en-US" dirty="0"/>
              <a:t>VIỆN ĐẠI HỌC CẦN TH</a:t>
            </a:r>
            <a:r>
              <a:rPr lang="vi-VN" dirty="0"/>
              <a:t>Ơ</a:t>
            </a:r>
            <a:r>
              <a:rPr lang="en-US" dirty="0"/>
              <a:t> CÓ BỐN KHOA:</a:t>
            </a:r>
            <a:endParaRPr lang="en-US" dirty="0"/>
          </a:p>
          <a:p>
            <a:pPr lvl="1"/>
            <a:r>
              <a:rPr lang="en-US" dirty="0"/>
              <a:t> KHOA HỌC </a:t>
            </a:r>
            <a:endParaRPr lang="en-US" dirty="0"/>
          </a:p>
          <a:p>
            <a:pPr lvl="1"/>
            <a:r>
              <a:rPr lang="en-US" dirty="0"/>
              <a:t> LUẬT KHOA</a:t>
            </a:r>
            <a:endParaRPr lang="en-US" dirty="0"/>
          </a:p>
          <a:p>
            <a:pPr lvl="1"/>
            <a:r>
              <a:rPr lang="en-US" dirty="0"/>
              <a:t> KHOA HỌC XÃ HỘI, VĂN KHOA, S</a:t>
            </a:r>
            <a:r>
              <a:rPr lang="vi-VN" dirty="0"/>
              <a:t>Ư</a:t>
            </a:r>
            <a:r>
              <a:rPr lang="en-US" dirty="0"/>
              <a:t> PHẠM</a:t>
            </a:r>
            <a:endParaRPr lang="en-US" dirty="0"/>
          </a:p>
          <a:p>
            <a:pPr lvl="1"/>
            <a:r>
              <a:rPr lang="en-US" dirty="0"/>
              <a:t> CAO ĐẲNG NÔNG NGHIỆP VÀ TRUNG TÂM SINH NGỮ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221" y="618517"/>
            <a:ext cx="10813005" cy="1596177"/>
          </a:xfrm>
        </p:spPr>
        <p:txBody>
          <a:bodyPr/>
          <a:lstStyle/>
          <a:p>
            <a:r>
              <a:rPr lang="en-US" b="1" dirty="0"/>
              <a:t>THỜI KỲ VIỆN ĐẠI HỌC CẦN TH</a:t>
            </a:r>
            <a:r>
              <a:rPr lang="vi-VN" b="1" dirty="0"/>
              <a:t>Ơ</a:t>
            </a:r>
            <a:r>
              <a:rPr lang="en-US" b="1" dirty="0"/>
              <a:t> (1966 – 1975)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</a:t>
            </a:r>
            <a:r>
              <a:rPr lang="vi-VN" dirty="0"/>
              <a:t>Ơ</a:t>
            </a:r>
            <a:r>
              <a:rPr lang="en-US" dirty="0"/>
              <a:t> SỞ VẬT CHẤT CỦA VIỆN ĐẠI HỌC CẦN TH</a:t>
            </a:r>
            <a:r>
              <a:rPr lang="vi-VN" dirty="0"/>
              <a:t>Ơ</a:t>
            </a:r>
            <a:r>
              <a:rPr lang="en-US" dirty="0"/>
              <a:t> TỌA LẠC TRÊN 4 ĐỊA ĐIỂM </a:t>
            </a:r>
            <a:endParaRPr lang="en-US" dirty="0"/>
          </a:p>
          <a:p>
            <a:pPr lvl="1"/>
            <a:r>
              <a:rPr lang="en-US" dirty="0"/>
              <a:t>TÒA VIỆN TR</a:t>
            </a:r>
            <a:r>
              <a:rPr lang="vi-VN" dirty="0"/>
              <a:t>ƯỞNG</a:t>
            </a:r>
            <a:r>
              <a:rPr lang="en-US" dirty="0"/>
              <a:t> (SỐ 5, ĐẠI LỘ HÒA BÌNH)</a:t>
            </a:r>
            <a:endParaRPr lang="en-US" dirty="0"/>
          </a:p>
          <a:p>
            <a:pPr lvl="1"/>
            <a:r>
              <a:rPr lang="en-US" dirty="0"/>
              <a:t>KHU I (Đ</a:t>
            </a:r>
            <a:r>
              <a:rPr lang="vi-VN" dirty="0"/>
              <a:t>ƯỜNG</a:t>
            </a:r>
            <a:r>
              <a:rPr lang="en-US" dirty="0"/>
              <a:t> 30/4)</a:t>
            </a:r>
            <a:endParaRPr lang="en-US" dirty="0"/>
          </a:p>
          <a:p>
            <a:pPr lvl="1"/>
            <a:r>
              <a:rPr lang="en-US" dirty="0"/>
              <a:t>KHU II (Đ</a:t>
            </a:r>
            <a:r>
              <a:rPr lang="vi-VN" dirty="0"/>
              <a:t>ƯỜNG</a:t>
            </a:r>
            <a:r>
              <a:rPr lang="en-US" dirty="0"/>
              <a:t> 3/2)</a:t>
            </a:r>
            <a:endParaRPr lang="en-US" dirty="0"/>
          </a:p>
          <a:p>
            <a:pPr lvl="1"/>
            <a:r>
              <a:rPr lang="en-US" dirty="0"/>
              <a:t>KHU III (SỐ 1, LÝ TỰ TRỌNG)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>
        <p14:rippl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ĐHCT GIAI ĐOẠN SAU NĂM 1975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VIỆN ĐẠI HỌC CẦN TH</a:t>
            </a:r>
            <a:r>
              <a:rPr lang="vi-VN" dirty="0"/>
              <a:t>Ơ</a:t>
            </a:r>
            <a:r>
              <a:rPr lang="en-US" dirty="0"/>
              <a:t> Đ</a:t>
            </a:r>
            <a:r>
              <a:rPr lang="vi-VN" dirty="0"/>
              <a:t>ƯỢC</a:t>
            </a:r>
            <a:r>
              <a:rPr lang="en-US" dirty="0"/>
              <a:t> ĐỔI THÀNH ĐHCT</a:t>
            </a:r>
            <a:endParaRPr lang="en-US" dirty="0"/>
          </a:p>
          <a:p>
            <a:r>
              <a:rPr lang="en-US" dirty="0"/>
              <a:t>C</a:t>
            </a:r>
            <a:r>
              <a:rPr lang="vi-VN" dirty="0"/>
              <a:t>Ơ</a:t>
            </a:r>
            <a:r>
              <a:rPr lang="en-US" dirty="0"/>
              <a:t> CẤU ĐHCT HIỆN NAY</a:t>
            </a:r>
            <a:endParaRPr lang="en-US" dirty="0"/>
          </a:p>
          <a:p>
            <a:pPr lvl="1"/>
            <a:r>
              <a:rPr lang="en-US" dirty="0"/>
              <a:t>KHOA - VIỆN</a:t>
            </a:r>
            <a:endParaRPr lang="en-US" dirty="0"/>
          </a:p>
          <a:p>
            <a:pPr lvl="1"/>
            <a:r>
              <a:rPr lang="en-US" dirty="0"/>
              <a:t>TRUNG TÂM – TRUNG TÂM ĐÀO TẠO</a:t>
            </a:r>
            <a:endParaRPr lang="en-US" dirty="0"/>
          </a:p>
          <a:p>
            <a:pPr lvl="1"/>
            <a:r>
              <a:rPr lang="en-US" dirty="0"/>
              <a:t>PHÒNG BAN CHỨC NĂNG</a:t>
            </a:r>
            <a:endParaRPr lang="en-US" dirty="0"/>
          </a:p>
          <a:p>
            <a:pPr lvl="1"/>
            <a:r>
              <a:rPr lang="en-US" dirty="0"/>
              <a:t>ĐOÀN THỂ &amp; HỘI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ĐHCT GIAI ĐOẠN SAU NĂM 1975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NGÀY 14/1/1998, TR</a:t>
            </a:r>
            <a:r>
              <a:rPr lang="vi-VN" dirty="0"/>
              <a:t>ƯỜNG</a:t>
            </a:r>
            <a:r>
              <a:rPr lang="en-US" dirty="0"/>
              <a:t> ĐHCT KHÁNH THÀNH KHOA </a:t>
            </a:r>
            <a:r>
              <a:rPr lang="en-US" dirty="0" err="1"/>
              <a:t>KHOA</a:t>
            </a:r>
            <a:r>
              <a:rPr lang="en-US" dirty="0"/>
              <a:t> HỌC</a:t>
            </a:r>
            <a:endParaRPr lang="en-US" dirty="0"/>
          </a:p>
          <a:p>
            <a:pPr lvl="1"/>
            <a:r>
              <a:rPr lang="en-US" dirty="0"/>
              <a:t>C</a:t>
            </a:r>
            <a:r>
              <a:rPr lang="vi-VN" dirty="0"/>
              <a:t>Ơ</a:t>
            </a:r>
            <a:r>
              <a:rPr lang="en-US" dirty="0"/>
              <a:t> SỞ VẬT CHẤT</a:t>
            </a:r>
            <a:endParaRPr lang="en-US" dirty="0"/>
          </a:p>
          <a:p>
            <a:pPr lvl="2"/>
            <a:r>
              <a:rPr lang="en-US" dirty="0"/>
              <a:t>12 PHÒNG THÍ NGHIỆM (PTN) CHO SINH, HÓA, VẬT LÝ</a:t>
            </a:r>
            <a:endParaRPr lang="en-US" dirty="0"/>
          </a:p>
          <a:p>
            <a:pPr lvl="2"/>
            <a:r>
              <a:rPr lang="en-US" dirty="0"/>
              <a:t>06 PHÓNG MÁY TÍNH Đ</a:t>
            </a:r>
            <a:r>
              <a:rPr lang="vi-VN" dirty="0"/>
              <a:t>ƯỢC</a:t>
            </a:r>
            <a:r>
              <a:rPr lang="en-US" dirty="0"/>
              <a:t> NỐI MẠNG VỚI NHAU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ĐHCT GIAI ĐOẠN SAU NĂM 1975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C</a:t>
            </a:r>
            <a:r>
              <a:rPr lang="vi-VN" dirty="0"/>
              <a:t>Ơ</a:t>
            </a:r>
            <a:r>
              <a:rPr lang="en-US" dirty="0"/>
              <a:t> CỞ VẬT CHẤT</a:t>
            </a:r>
            <a:endParaRPr lang="en-US" dirty="0"/>
          </a:p>
          <a:p>
            <a:pPr lvl="2"/>
            <a:r>
              <a:rPr lang="en-US" dirty="0"/>
              <a:t>VP KHOA VÀ X</a:t>
            </a:r>
            <a:r>
              <a:rPr lang="vi-VN" dirty="0"/>
              <a:t>ƯỞNG</a:t>
            </a:r>
            <a:r>
              <a:rPr lang="en-US" dirty="0"/>
              <a:t> SỬA CHỮA </a:t>
            </a:r>
            <a:endParaRPr lang="en-US" dirty="0"/>
          </a:p>
          <a:p>
            <a:pPr lvl="2"/>
            <a:r>
              <a:rPr lang="en-US" dirty="0"/>
              <a:t>NĂM 2010, TR</a:t>
            </a:r>
            <a:r>
              <a:rPr lang="vi-VN" dirty="0"/>
              <a:t>ƯỜNG</a:t>
            </a:r>
            <a:r>
              <a:rPr lang="en-US" dirty="0"/>
              <a:t> ĐÃ ĐẦU T</a:t>
            </a:r>
            <a:r>
              <a:rPr lang="vi-VN" dirty="0"/>
              <a:t>Ư</a:t>
            </a:r>
            <a:r>
              <a:rPr lang="en-US" dirty="0"/>
              <a:t> MỞ RỘNG KHU PTN CỦA KHOA</a:t>
            </a:r>
            <a:endParaRPr lang="en-US" dirty="0"/>
          </a:p>
          <a:p>
            <a:pPr lvl="2"/>
            <a:r>
              <a:rPr lang="en-US" dirty="0"/>
              <a:t>XÂY MỚI KHU NHÀ 3 TẦNG VỚI 22 PHÒNG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ĐHCT GIAI ĐOẠN SAU NĂM 1975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 KHOA KHTN HIỆN NAY GỒM 04 BỘ MÔN</a:t>
            </a:r>
            <a:endParaRPr lang="en-US" dirty="0"/>
          </a:p>
          <a:p>
            <a:pPr lvl="2"/>
            <a:r>
              <a:rPr lang="en-US" dirty="0"/>
              <a:t>bỘ MÔN SINH HỌC</a:t>
            </a:r>
            <a:endParaRPr lang="en-US" dirty="0"/>
          </a:p>
          <a:p>
            <a:pPr lvl="2"/>
            <a:r>
              <a:rPr lang="en-US" dirty="0"/>
              <a:t>BỘ MÔN HÓA HỌC</a:t>
            </a:r>
            <a:endParaRPr lang="en-US" dirty="0"/>
          </a:p>
          <a:p>
            <a:pPr lvl="2"/>
            <a:r>
              <a:rPr lang="en-US" dirty="0"/>
              <a:t>BỘ MÔN TOÁN HỌC</a:t>
            </a:r>
            <a:endParaRPr lang="en-US" dirty="0"/>
          </a:p>
          <a:p>
            <a:pPr lvl="2"/>
            <a:r>
              <a:rPr lang="en-US" dirty="0"/>
              <a:t>BỘ MÔN VẬT LÝ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p>
            <a:r>
              <a:rPr lang="en-US" b="1" dirty="0">
                <a:solidFill>
                  <a:srgbClr val="FF0000"/>
                </a:solidFill>
                <a:sym typeface="+mn-ea"/>
              </a:rPr>
              <a:t>KHOA </a:t>
            </a:r>
            <a:r>
              <a:rPr lang="en-US" b="1" dirty="0" err="1">
                <a:solidFill>
                  <a:srgbClr val="FF0000"/>
                </a:solidFill>
                <a:sym typeface="+mn-ea"/>
              </a:rPr>
              <a:t>KHOA</a:t>
            </a:r>
            <a:r>
              <a:rPr lang="en-US" b="1" dirty="0">
                <a:solidFill>
                  <a:srgbClr val="FF0000"/>
                </a:solidFill>
                <a:sym typeface="+mn-ea"/>
              </a:rPr>
              <a:t> HỌC TỰ NHIÊN</a:t>
            </a:r>
            <a:endParaRPr lang="en-US" b="1" dirty="0">
              <a:solidFill>
                <a:srgbClr val="FF0000"/>
              </a:solidFill>
            </a:endParaRPr>
          </a:p>
          <a:p>
            <a:pPr lvl="1"/>
            <a:r>
              <a:rPr lang="en-US"/>
              <a:t> CÔNG TÁC ĐÀO TẠO</a:t>
            </a:r>
            <a:endParaRPr lang="en-US"/>
          </a:p>
          <a:p>
            <a:pPr lvl="2"/>
            <a:r>
              <a:rPr lang="en-US"/>
              <a:t>ĐẠI HỌC: ....</a:t>
            </a:r>
            <a:endParaRPr lang="en-US"/>
          </a:p>
          <a:p>
            <a:pPr lvl="2"/>
            <a:r>
              <a:rPr lang="en-US"/>
              <a:t>SĐH: ....</a:t>
            </a:r>
            <a:endParaRPr lang="en-US"/>
          </a:p>
          <a:p>
            <a:pPr marL="457200" lvl="1" indent="0">
              <a:buFont typeface="Times New Roman" panose="02020603050405020304" pitchFamily="18" charset="0"/>
              <a:buChar char="⁃"/>
            </a:pPr>
            <a:r>
              <a:rPr lang="en-US" altLang="vi-VN" dirty="0">
                <a:solidFill>
                  <a:schemeClr val="tx1"/>
                </a:solidFill>
                <a:sym typeface="+mn-ea"/>
              </a:rPr>
              <a:t> CÔNG TÁC NCKH, BÁO CÁO CHUYÊN ĐỀ: ....</a:t>
            </a:r>
            <a:endParaRPr lang="en-US" altLang="vi-VN" dirty="0">
              <a:solidFill>
                <a:schemeClr val="tx1"/>
              </a:solidFill>
              <a:sym typeface="+mn-ea"/>
            </a:endParaRPr>
          </a:p>
          <a:p>
            <a:pPr marL="457200" lvl="1" indent="0">
              <a:buFont typeface="Times New Roman" panose="02020603050405020304" pitchFamily="18" charset="0"/>
              <a:buChar char="⁃"/>
            </a:pPr>
            <a:r>
              <a:rPr lang="en-US" altLang="vi-VN" dirty="0">
                <a:solidFill>
                  <a:schemeClr val="tx1"/>
                </a:solidFill>
                <a:sym typeface="+mn-ea"/>
              </a:rPr>
              <a:t> CÔNG TÁC ĐÀO TẠO VÀ BỒI DƯỠNG CÁN BỘ: ....</a:t>
            </a:r>
            <a:endParaRPr lang="en-US" altLang="vi-VN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solidFill>
                  <a:schemeClr val="tx1"/>
                </a:solidFill>
                <a:sym typeface="+mn-ea"/>
              </a:rPr>
              <a:t>ĐHCT GIAI ĐOẠN SAU NĂM 1975</a:t>
            </a:r>
            <a:endParaRPr lang="vi-VN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20000"/>
          </a:bodyPr>
          <a:p>
            <a:r>
              <a:rPr lang="vi-VN" u="sng" dirty="0">
                <a:solidFill>
                  <a:schemeClr val="accent1"/>
                </a:solidFill>
                <a:sym typeface="+mn-ea"/>
                <a:hlinkClick r:id="rId1"/>
              </a:rPr>
              <a:t>KHOA </a:t>
            </a:r>
            <a:r>
              <a:rPr lang="en-US" altLang="vi-VN" u="sng" dirty="0">
                <a:solidFill>
                  <a:schemeClr val="accent1"/>
                </a:solidFill>
                <a:sym typeface="+mn-ea"/>
                <a:hlinkClick r:id="rId1"/>
              </a:rPr>
              <a:t>CNTT &amp; TT</a:t>
            </a:r>
            <a:endParaRPr lang="en-US" altLang="vi-VN" u="sng" dirty="0">
              <a:solidFill>
                <a:schemeClr val="accent1"/>
              </a:solidFill>
              <a:sym typeface="+mn-ea"/>
            </a:endParaRPr>
          </a:p>
          <a:p>
            <a:pPr lvl="1"/>
            <a:r>
              <a:rPr lang="en-US" altLang="vi-VN" dirty="0">
                <a:solidFill>
                  <a:schemeClr val="tx1"/>
                </a:solidFill>
                <a:sym typeface="+mn-ea"/>
              </a:rPr>
              <a:t> </a:t>
            </a:r>
            <a:r>
              <a:rPr lang="vi-VN" dirty="0">
                <a:solidFill>
                  <a:schemeClr val="tx1"/>
                </a:solidFill>
                <a:sym typeface="+mn-ea"/>
              </a:rPr>
              <a:t>ĐƯỢC THÀNH LẬP NĂM 1994 TRÊN CƠ SỞ TRUNG TÂM ĐIỆN TỬ VÀ TIN HỌC</a:t>
            </a:r>
            <a:endParaRPr lang="vi-VN" dirty="0">
              <a:solidFill>
                <a:schemeClr val="tx1"/>
              </a:solidFill>
              <a:sym typeface="+mn-ea"/>
            </a:endParaRPr>
          </a:p>
          <a:p>
            <a:pPr lvl="1"/>
            <a:r>
              <a:rPr lang="vi-VN" dirty="0">
                <a:solidFill>
                  <a:schemeClr val="tx1"/>
                </a:solidFill>
                <a:sym typeface="+mn-ea"/>
              </a:rPr>
              <a:t>NHIỆM VỤ CỦA KHOA LÀ ĐÀO TẠO</a:t>
            </a:r>
            <a:endParaRPr lang="vi-VN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ĐẠI HỌC VÀ SAU ĐẠI HỌC</a:t>
            </a:r>
            <a:endParaRPr lang="vi-VN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NCKH VÀ CHUYỂN GIAO CÔNG NGHỆ TRONG LĨNH VỰC CNTT&amp;TT</a:t>
            </a:r>
            <a:endParaRPr lang="vi-VN" altLang="vi-VN" u="sng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vi-VN" u="sng" dirty="0">
                <a:solidFill>
                  <a:schemeClr val="accent1"/>
                </a:solidFill>
                <a:sym typeface="+mn-ea"/>
                <a:hlinkClick r:id="rId1"/>
              </a:rPr>
              <a:t>KHOA </a:t>
            </a:r>
            <a:r>
              <a:rPr lang="en-US" altLang="vi-VN" u="sng" dirty="0">
                <a:solidFill>
                  <a:schemeClr val="accent1"/>
                </a:solidFill>
                <a:sym typeface="+mn-ea"/>
              </a:rPr>
              <a:t>CNTT &amp; TT</a:t>
            </a:r>
            <a:endParaRPr lang="en-US" altLang="vi-VN" u="sng" dirty="0">
              <a:solidFill>
                <a:schemeClr val="accent1"/>
              </a:solidFill>
              <a:sym typeface="+mn-ea"/>
            </a:endParaRPr>
          </a:p>
          <a:p>
            <a:pPr lvl="1"/>
            <a:r>
              <a:rPr lang="en-US" altLang="vi-VN" dirty="0">
                <a:solidFill>
                  <a:schemeClr val="tx1"/>
                </a:solidFill>
                <a:sym typeface="+mn-ea"/>
              </a:rPr>
              <a:t> </a:t>
            </a:r>
            <a:r>
              <a:rPr lang="vi-VN" dirty="0">
                <a:solidFill>
                  <a:schemeClr val="tx1"/>
                </a:solidFill>
                <a:sym typeface="+mn-ea"/>
              </a:rPr>
              <a:t>TẦM NHÌN ĐẾN NĂM 2020</a:t>
            </a:r>
            <a:endParaRPr lang="vi-VN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 ĐƠN VỊ ĐÀO TẠO VÀ </a:t>
            </a:r>
            <a:endParaRPr lang="vi-VN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NGHIÊN CỨU KHOA HỌC VỀ CNTT&amp;TT MẠNH CỦA CẢ NƯỚC</a:t>
            </a:r>
            <a:endParaRPr lang="vi-VN" dirty="0">
              <a:solidFill>
                <a:schemeClr val="tx1"/>
              </a:solidFill>
            </a:endParaRPr>
          </a:p>
          <a:p>
            <a:pPr lvl="1"/>
            <a:endParaRPr lang="vi-VN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 dir="in"/>
      </p:transition>
    </mc:Choice>
    <mc:Fallback>
      <p:transition spd="slow">
        <p:split orient="vert" dir="in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solidFill>
                  <a:schemeClr val="tx1"/>
                </a:solidFill>
                <a:sym typeface="+mn-ea"/>
              </a:rPr>
              <a:t>ĐHCT GIAI ĐOẠN SAU NĂM 1975</a:t>
            </a:r>
            <a:endParaRPr lang="vi-VN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vi-VN" dirty="0">
                <a:solidFill>
                  <a:srgbClr val="0070C0"/>
                </a:solidFill>
                <a:sym typeface="+mn-ea"/>
              </a:rPr>
              <a:t>KHOA KHOA HỌC TỰ NHIÊN</a:t>
            </a:r>
            <a:endParaRPr lang="vi-VN" dirty="0">
              <a:solidFill>
                <a:srgbClr val="0070C0"/>
              </a:solidFill>
              <a:sym typeface="+mn-ea"/>
            </a:endParaRPr>
          </a:p>
          <a:p>
            <a:pPr lvl="1"/>
            <a:r>
              <a:rPr lang="vi-VN" dirty="0">
                <a:solidFill>
                  <a:schemeClr val="tx1"/>
                </a:solidFill>
                <a:sym typeface="+mn-ea"/>
              </a:rPr>
              <a:t>CÁC BỘ MÔN VÀ TRUNG TÂM</a:t>
            </a:r>
            <a:endParaRPr lang="vi-VN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BỘ MÔN HỆ THỐNG THÔNG TIN</a:t>
            </a:r>
            <a:endParaRPr lang="vi-VN" dirty="0">
              <a:solidFill>
                <a:schemeClr val="tx1"/>
              </a:solidFill>
              <a:sym typeface="+mn-ea"/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BỘ MÔN MẠNG MÁY TÍNH VÀ TRUYỀN THÔNG </a:t>
            </a:r>
            <a:endParaRPr lang="vi-VN" dirty="0">
              <a:solidFill>
                <a:schemeClr val="tx1"/>
              </a:solidFill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BỘ MÔN CÔNG NGHỆ PHẦN MỀM </a:t>
            </a:r>
            <a:endParaRPr lang="vi-VN" dirty="0">
              <a:solidFill>
                <a:schemeClr val="tx1"/>
              </a:solidFill>
            </a:endParaRPr>
          </a:p>
          <a:p>
            <a:pPr lvl="2"/>
            <a:r>
              <a:rPr lang="vi-VN" dirty="0">
                <a:solidFill>
                  <a:schemeClr val="tx1"/>
                </a:solidFill>
                <a:sym typeface="+mn-ea"/>
              </a:rPr>
              <a:t> BỘ MÔN KHOA HỌC MÁY TÍNH</a:t>
            </a:r>
            <a:endParaRPr lang="vi-VN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vi-VN" dirty="0">
                <a:sym typeface="+mn-ea"/>
              </a:rPr>
              <a:t>ĐHCT GIAI ĐOẠN SAU NĂM 1975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vi-VN" dirty="0">
                <a:solidFill>
                  <a:srgbClr val="0070C0"/>
                </a:solidFill>
                <a:sym typeface="+mn-ea"/>
              </a:rPr>
              <a:t>KHOA KHOA HỌC TỰ NHIÊN</a:t>
            </a:r>
            <a:endParaRPr lang="vi-VN" dirty="0">
              <a:solidFill>
                <a:srgbClr val="0070C0"/>
              </a:solidFill>
              <a:sym typeface="+mn-ea"/>
            </a:endParaRPr>
          </a:p>
          <a:p>
            <a:pPr lvl="1"/>
            <a:r>
              <a:rPr lang="vi-VN" dirty="0">
                <a:solidFill>
                  <a:schemeClr val="tx1"/>
                </a:solidFill>
                <a:sym typeface="+mn-ea"/>
              </a:rPr>
              <a:t>CÁC BỘ MÔN VÀ TRUNG TÂM </a:t>
            </a:r>
            <a:endParaRPr lang="vi-VN" dirty="0">
              <a:solidFill>
                <a:schemeClr val="tx1"/>
              </a:solidFill>
            </a:endParaRPr>
          </a:p>
          <a:p>
            <a:pPr lvl="2"/>
            <a:r>
              <a:rPr lang="en-US" altLang="en-US"/>
              <a:t>BỘ MÔN CÔNG NGHỆ THÔNG TIN </a:t>
            </a:r>
            <a:endParaRPr lang="en-US" altLang="en-US"/>
          </a:p>
          <a:p>
            <a:pPr lvl="2"/>
            <a:r>
              <a:rPr lang="en-US" altLang="en-US"/>
              <a:t>BỘ MÔN TIN HỌC ỨNG DỤNG </a:t>
            </a:r>
            <a:endParaRPr lang="en-US" altLang="en-US"/>
          </a:p>
          <a:p>
            <a:pPr lvl="2"/>
            <a:r>
              <a:rPr lang="en-US" altLang="en-US"/>
              <a:t>TỔ V</a:t>
            </a:r>
            <a:r>
              <a:rPr lang="en-US" altLang="en-US"/>
              <a:t>Ă</a:t>
            </a:r>
            <a:r>
              <a:rPr lang="en-US" altLang="en-US"/>
              <a:t>N PHÒNG  </a:t>
            </a:r>
            <a:endParaRPr lang="en-US" altLang="en-US"/>
          </a:p>
          <a:p>
            <a:pPr lvl="2"/>
            <a:r>
              <a:rPr lang="en-US" altLang="en-US"/>
              <a:t> TRUNG T</a:t>
            </a:r>
            <a:r>
              <a:rPr lang="en-US" altLang="en-US"/>
              <a:t>Â</a:t>
            </a:r>
            <a:r>
              <a:rPr lang="en-US" altLang="en-US"/>
              <a:t>M </a:t>
            </a:r>
            <a:r>
              <a:rPr lang="en-US" altLang="en-US"/>
              <a:t>Đ</a:t>
            </a:r>
            <a:r>
              <a:rPr lang="en-US" altLang="en-US"/>
              <a:t>IỆN TỬ &amp; TIN HỌC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13765" y="3225800"/>
            <a:ext cx="10364470" cy="786765"/>
          </a:xfrm>
        </p:spPr>
        <p:txBody>
          <a:bodyPr/>
          <a:p>
            <a:r>
              <a:rPr lang="vi-VN" dirty="0">
                <a:solidFill>
                  <a:schemeClr val="tx1"/>
                </a:solidFill>
                <a:sym typeface="+mn-ea"/>
              </a:rPr>
              <a:t>CẢM ƠN SỰ CHÚ Ý CỦA QUÝ VỊ </a:t>
            </a:r>
            <a:endParaRPr lang="vi-VN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vi-VN" dirty="0"/>
              <a:t>Giới thiệu Đại học Cần Thơ</a:t>
            </a:r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6D22F896-40B5-4ADD-8801-0D06FADFA095}" type="slidenum">
              <a:rPr lang="en-US" smtClean="0"/>
            </a:fld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0</TotalTime>
  <Words>2537</Words>
  <Application>WPS Presentation</Application>
  <PresentationFormat>Widescreen</PresentationFormat>
  <Paragraphs>161</Paragraphs>
  <Slides>14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  <vt:variant>
        <vt:lpstr>自定义放映</vt:lpstr>
      </vt:variant>
      <vt:variant>
        <vt:i4>2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Segoe UI</vt:lpstr>
      <vt:lpstr>Wingdings</vt:lpstr>
      <vt:lpstr>Times New Roman (Headings)</vt:lpstr>
      <vt:lpstr>Tw Cen MT</vt:lpstr>
      <vt:lpstr>Microsoft YaHei</vt:lpstr>
      <vt:lpstr>Arial Unicode MS</vt:lpstr>
      <vt:lpstr>Aptos</vt:lpstr>
      <vt:lpstr>Droplet</vt:lpstr>
      <vt:lpstr>ĐẠI HỌC CẦN THƠ - QUÁ TRÌNH HÌNH THÀNH VÀ PHÁT TRIỂN </vt:lpstr>
      <vt:lpstr>NỘI DUNG</vt:lpstr>
      <vt:lpstr>THỜI KỲ VIỆN ĐẠI HỌC CẦN THƠ (1966 – 1975)</vt:lpstr>
      <vt:lpstr>THỜI KỲ VIỆN ĐẠI HỌC CẦN THƠ (1966 –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 </vt:lpstr>
      <vt:lpstr>KHTN</vt:lpstr>
      <vt:lpstr>CNTT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hiep hiep</dc:creator>
  <cp:lastModifiedBy>Laptop</cp:lastModifiedBy>
  <cp:revision>3</cp:revision>
  <dcterms:created xsi:type="dcterms:W3CDTF">2026-02-04T17:35:00Z</dcterms:created>
  <dcterms:modified xsi:type="dcterms:W3CDTF">2026-02-05T01:37:15Z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1033-12.1.0.25180</vt:lpwstr>
  </property>
  <property fmtid="{D5CDD505-2E9C-101B-9397-08002B2CF9AE}" pid="3" name="ICV">
    <vt:lpwstr>5859818E43B443D1A0B2D6F837BCDF49_13</vt:lpwstr>
  </property>
</Properties>
</file>