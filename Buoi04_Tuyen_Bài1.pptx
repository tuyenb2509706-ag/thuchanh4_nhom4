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6633"/>
    <a:srgbClr val="98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109" d="100"/>
          <a:sy n="109" d="100"/>
        </p:scale>
        <p:origin x="588" y="10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5000" b="1">
                <a:solidFill>
                  <a:srgbClr val="986633"/>
                </a:solidFill>
                <a:latin typeface="Times New Roman" panose="02020603050405020304" pitchFamily="18" charset="0"/>
                <a:cs typeface="Times New Roman" panose="02020603050405020304" pitchFamily="18" charset="0"/>
              </a:defRPr>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b="1">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a:t>
            </a:r>
            <a:endParaRPr lang="vi-VN" sz="3200" smtClean="0">
              <a:latin typeface="Times New Roman" panose="02020603050405020304" pitchFamily="18" charset="0"/>
              <a:cs typeface="Times New Roman" panose="02020603050405020304" pitchFamily="18" charset="0"/>
            </a:endParaRPr>
          </a:p>
          <a:p>
            <a:r>
              <a:rPr lang="en-US" smtClean="0"/>
              <a:t> style</a:t>
            </a:r>
            <a:endParaRPr lang="vi-VN" sz="3200" smtClean="0">
              <a:latin typeface="Times New Roman" panose="02020603050405020304" pitchFamily="18" charset="0"/>
              <a:cs typeface="Times New Roman" panose="02020603050405020304" pitchFamily="18" charset="0"/>
            </a:endParaRPr>
          </a:p>
          <a:p>
            <a:endParaRPr lang="en-US"/>
          </a:p>
        </p:txBody>
      </p:sp>
      <p:sp>
        <p:nvSpPr>
          <p:cNvPr id="4" name="Date Placeholder 3"/>
          <p:cNvSpPr>
            <a:spLocks noGrp="1"/>
          </p:cNvSpPr>
          <p:nvPr>
            <p:ph type="dt" sz="half" idx="10"/>
          </p:nvPr>
        </p:nvSpPr>
        <p:spPr/>
        <p:txBody>
          <a:bodyPr/>
          <a:lstStyle/>
          <a:p>
            <a:fld id="{6A20DAAF-5024-4EFA-BC8F-0957F67612B6}" type="datetimeFigureOut">
              <a:rPr lang="en-US" smtClean="0"/>
              <a:t>05/02/2026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1A355C-E6C8-4586-865C-851F05546A18}" type="slidenum">
              <a:rPr lang="en-US" smtClean="0"/>
              <a:t>‹#›</a:t>
            </a:fld>
            <a:endParaRPr lang="en-US"/>
          </a:p>
        </p:txBody>
      </p:sp>
    </p:spTree>
    <p:extLst>
      <p:ext uri="{BB962C8B-B14F-4D97-AF65-F5344CB8AC3E}">
        <p14:creationId xmlns:p14="http://schemas.microsoft.com/office/powerpoint/2010/main" val="92842311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hasCustomPrompt="1"/>
          </p:nvPr>
        </p:nvSpPr>
        <p:spPr/>
        <p:txBody>
          <a:bodyPr/>
          <a:lstStyle>
            <a:lvl1pPr marL="457200" indent="-457200">
              <a:buFont typeface="Arial" panose="020B0604020202020204" pitchFamily="34" charset="0"/>
              <a:buChar char="•"/>
              <a:defRPr/>
            </a:lvl1pPr>
            <a:lvl2pPr marL="914400" indent="-457200">
              <a:buFontTx/>
              <a:buChar char="‒"/>
              <a:defRPr/>
            </a:lvl2pPr>
            <a:lvl3pPr marL="1257300" indent="-342900">
              <a:buFont typeface="Times New Roman" panose="02020603050405020304" pitchFamily="18" charset="0"/>
              <a:buChar char="⁺"/>
              <a:defRPr baseline="0"/>
            </a:lvl3pPr>
            <a:lvl4pPr marL="1714500" indent="-342900">
              <a:buFont typeface="Arial" panose="020B0604020202020204" pitchFamily="34" charset="0"/>
              <a:buChar char="•"/>
              <a:defRPr baseline="0"/>
            </a:lvl4pPr>
            <a:lvl5pPr marL="2171700" indent="-342900">
              <a:buFont typeface="Arial" panose="020B0604020202020204" pitchFamily="34" charset="0"/>
              <a:buChar char="•"/>
              <a:defRPr/>
            </a:lvl5pPr>
            <a:lvl8pPr marL="3429000" indent="-228600">
              <a:buFont typeface="Wingdings" panose="05000000000000000000" pitchFamily="2" charset="2"/>
              <a:buChar char="ü"/>
              <a:defRPr/>
            </a:lvl8pPr>
          </a:lstStyle>
          <a:p>
            <a:pPr lvl="0"/>
            <a:r>
              <a:rPr lang="en-US" smtClean="0"/>
              <a:t>Edit Master text styles</a:t>
            </a:r>
            <a:r>
              <a:rPr lang="vi-VN" smtClean="0"/>
              <a:t>	</a:t>
            </a:r>
          </a:p>
          <a:p>
            <a:pPr lvl="1"/>
            <a:r>
              <a:rPr lang="en-US" smtClean="0"/>
              <a:t>Second </a:t>
            </a:r>
            <a:r>
              <a:rPr lang="vi-VN" smtClean="0"/>
              <a:t>level</a:t>
            </a:r>
          </a:p>
          <a:p>
            <a:pPr lvl="2"/>
            <a:r>
              <a:rPr lang="vi-VN" smtClean="0"/>
              <a:t>	</a:t>
            </a:r>
            <a:r>
              <a:rPr lang="en-US" smtClean="0"/>
              <a:t>Third level</a:t>
            </a:r>
          </a:p>
          <a:p>
            <a:pPr lvl="4"/>
            <a:r>
              <a:rPr lang="vi-VN" smtClean="0"/>
              <a:t>	</a:t>
            </a:r>
            <a:r>
              <a:rPr lang="en-US" smtClean="0"/>
              <a:t>Fourth </a:t>
            </a:r>
            <a:r>
              <a:rPr lang="vi-VN" smtClean="0"/>
              <a:t>level	</a:t>
            </a:r>
          </a:p>
          <a:p>
            <a:pPr lvl="7"/>
            <a:r>
              <a:rPr lang="vi-VN" smtClean="0"/>
              <a:t>Fifth level</a:t>
            </a:r>
            <a:endParaRPr lang="en-US"/>
          </a:p>
        </p:txBody>
      </p:sp>
      <p:sp>
        <p:nvSpPr>
          <p:cNvPr id="4" name="Date Placeholder 3"/>
          <p:cNvSpPr>
            <a:spLocks noGrp="1"/>
          </p:cNvSpPr>
          <p:nvPr>
            <p:ph type="dt" sz="half" idx="10"/>
          </p:nvPr>
        </p:nvSpPr>
        <p:spPr/>
        <p:txBody>
          <a:bodyPr/>
          <a:lstStyle/>
          <a:p>
            <a:fld id="{6A20DAAF-5024-4EFA-BC8F-0957F67612B6}" type="datetimeFigureOut">
              <a:rPr lang="en-US" smtClean="0"/>
              <a:t>05/02/2026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1A355C-E6C8-4586-865C-851F05546A18}" type="slidenum">
              <a:rPr lang="en-US" smtClean="0"/>
              <a:t>‹#›</a:t>
            </a:fld>
            <a:endParaRPr lang="en-US"/>
          </a:p>
        </p:txBody>
      </p:sp>
    </p:spTree>
    <p:extLst>
      <p:ext uri="{BB962C8B-B14F-4D97-AF65-F5344CB8AC3E}">
        <p14:creationId xmlns:p14="http://schemas.microsoft.com/office/powerpoint/2010/main" val="69921547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A20DAAF-5024-4EFA-BC8F-0957F67612B6}" type="datetimeFigureOut">
              <a:rPr lang="en-US" smtClean="0"/>
              <a:t>05/02/2026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1A355C-E6C8-4586-865C-851F05546A18}" type="slidenum">
              <a:rPr lang="en-US" smtClean="0"/>
              <a:t>‹#›</a:t>
            </a:fld>
            <a:endParaRPr lang="en-US"/>
          </a:p>
        </p:txBody>
      </p:sp>
    </p:spTree>
    <p:extLst>
      <p:ext uri="{BB962C8B-B14F-4D97-AF65-F5344CB8AC3E}">
        <p14:creationId xmlns:p14="http://schemas.microsoft.com/office/powerpoint/2010/main" val="87491053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A20DAAF-5024-4EFA-BC8F-0957F67612B6}" type="datetimeFigureOut">
              <a:rPr lang="en-US" smtClean="0"/>
              <a:t>05/02/2026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1A355C-E6C8-4586-865C-851F05546A18}" type="slidenum">
              <a:rPr lang="en-US" smtClean="0"/>
              <a:t>‹#›</a:t>
            </a:fld>
            <a:endParaRPr lang="en-US"/>
          </a:p>
        </p:txBody>
      </p:sp>
    </p:spTree>
    <p:extLst>
      <p:ext uri="{BB962C8B-B14F-4D97-AF65-F5344CB8AC3E}">
        <p14:creationId xmlns:p14="http://schemas.microsoft.com/office/powerpoint/2010/main" val="73416028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A20DAAF-5024-4EFA-BC8F-0957F67612B6}" type="datetimeFigureOut">
              <a:rPr lang="en-US" smtClean="0"/>
              <a:t>05/02/2026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71A355C-E6C8-4586-865C-851F05546A18}" type="slidenum">
              <a:rPr lang="en-US" smtClean="0"/>
              <a:t>‹#›</a:t>
            </a:fld>
            <a:endParaRPr lang="en-US"/>
          </a:p>
        </p:txBody>
      </p:sp>
    </p:spTree>
    <p:extLst>
      <p:ext uri="{BB962C8B-B14F-4D97-AF65-F5344CB8AC3E}">
        <p14:creationId xmlns:p14="http://schemas.microsoft.com/office/powerpoint/2010/main" val="383469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chemeClr val="tx1"/>
                </a:solidFill>
              </a:defRPr>
            </a:lvl1p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A20DAAF-5024-4EFA-BC8F-0957F67612B6}" type="datetimeFigureOut">
              <a:rPr lang="en-US" smtClean="0"/>
              <a:t>05/02/2026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71A355C-E6C8-4586-865C-851F05546A18}" type="slidenum">
              <a:rPr lang="en-US" smtClean="0"/>
              <a:t>‹#›</a:t>
            </a:fld>
            <a:endParaRPr lang="en-US"/>
          </a:p>
        </p:txBody>
      </p:sp>
    </p:spTree>
    <p:extLst>
      <p:ext uri="{BB962C8B-B14F-4D97-AF65-F5344CB8AC3E}">
        <p14:creationId xmlns:p14="http://schemas.microsoft.com/office/powerpoint/2010/main" val="214463653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20DAAF-5024-4EFA-BC8F-0957F67612B6}" type="datetimeFigureOut">
              <a:rPr lang="en-US" smtClean="0"/>
              <a:t>05/02/2026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71A355C-E6C8-4586-865C-851F05546A18}" type="slidenum">
              <a:rPr lang="en-US" smtClean="0"/>
              <a:t>‹#›</a:t>
            </a:fld>
            <a:endParaRPr lang="en-US"/>
          </a:p>
        </p:txBody>
      </p:sp>
    </p:spTree>
    <p:extLst>
      <p:ext uri="{BB962C8B-B14F-4D97-AF65-F5344CB8AC3E}">
        <p14:creationId xmlns:p14="http://schemas.microsoft.com/office/powerpoint/2010/main" val="675255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A20DAAF-5024-4EFA-BC8F-0957F67612B6}" type="datetimeFigureOut">
              <a:rPr lang="en-US" smtClean="0"/>
              <a:t>05/02/2026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1A355C-E6C8-4586-865C-851F05546A18}" type="slidenum">
              <a:rPr lang="en-US" smtClean="0"/>
              <a:t>‹#›</a:t>
            </a:fld>
            <a:endParaRPr lang="en-US"/>
          </a:p>
        </p:txBody>
      </p:sp>
    </p:spTree>
    <p:extLst>
      <p:ext uri="{BB962C8B-B14F-4D97-AF65-F5344CB8AC3E}">
        <p14:creationId xmlns:p14="http://schemas.microsoft.com/office/powerpoint/2010/main" val="942806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A20DAAF-5024-4EFA-BC8F-0957F67612B6}" type="datetimeFigureOut">
              <a:rPr lang="en-US" smtClean="0"/>
              <a:t>05/02/2026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1A355C-E6C8-4586-865C-851F05546A18}" type="slidenum">
              <a:rPr lang="en-US" smtClean="0"/>
              <a:t>‹#›</a:t>
            </a:fld>
            <a:endParaRPr lang="en-US"/>
          </a:p>
        </p:txBody>
      </p:sp>
    </p:spTree>
    <p:extLst>
      <p:ext uri="{BB962C8B-B14F-4D97-AF65-F5344CB8AC3E}">
        <p14:creationId xmlns:p14="http://schemas.microsoft.com/office/powerpoint/2010/main" val="304965994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20DAAF-5024-4EFA-BC8F-0957F67612B6}" type="datetimeFigureOut">
              <a:rPr lang="en-US" smtClean="0"/>
              <a:t>05/02/2026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1A355C-E6C8-4586-865C-851F05546A18}" type="slidenum">
              <a:rPr lang="en-US" smtClean="0"/>
              <a:t>‹#›</a:t>
            </a:fld>
            <a:endParaRPr lang="en-US"/>
          </a:p>
        </p:txBody>
      </p:sp>
    </p:spTree>
    <p:extLst>
      <p:ext uri="{BB962C8B-B14F-4D97-AF65-F5344CB8AC3E}">
        <p14:creationId xmlns:p14="http://schemas.microsoft.com/office/powerpoint/2010/main" val="889177207"/>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20DAAF-5024-4EFA-BC8F-0957F67612B6}" type="datetimeFigureOut">
              <a:rPr lang="en-US" smtClean="0"/>
              <a:t>05/02/2026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1A355C-E6C8-4586-865C-851F05546A18}" type="slidenum">
              <a:rPr lang="en-US" smtClean="0"/>
              <a:t>‹#›</a:t>
            </a:fld>
            <a:endParaRPr lang="en-US"/>
          </a:p>
        </p:txBody>
      </p:sp>
    </p:spTree>
    <p:extLst>
      <p:ext uri="{BB962C8B-B14F-4D97-AF65-F5344CB8AC3E}">
        <p14:creationId xmlns:p14="http://schemas.microsoft.com/office/powerpoint/2010/main" val="2187810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endParaRPr lang="vi-VN" smtClean="0"/>
          </a:p>
          <a:p>
            <a:pPr lvl="0"/>
            <a:endParaRPr lang="vi-VN" smtClean="0"/>
          </a:p>
          <a:p>
            <a:pPr lvl="0"/>
            <a:endParaRPr lang="vi-VN" smtClean="0"/>
          </a:p>
          <a:p>
            <a:pPr lvl="0"/>
            <a:endParaRPr lang="en-US" smtClean="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20DAAF-5024-4EFA-BC8F-0957F67612B6}" type="datetimeFigureOut">
              <a:rPr lang="en-US" smtClean="0"/>
              <a:t>05/02/2026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1A355C-E6C8-4586-865C-851F05546A18}" type="slidenum">
              <a:rPr lang="en-US" smtClean="0"/>
              <a:t>‹#›</a:t>
            </a:fld>
            <a:endParaRPr lang="en-US"/>
          </a:p>
        </p:txBody>
      </p:sp>
    </p:spTree>
    <p:extLst>
      <p:ext uri="{BB962C8B-B14F-4D97-AF65-F5344CB8AC3E}">
        <p14:creationId xmlns:p14="http://schemas.microsoft.com/office/powerpoint/2010/main" val="1048487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000" b="1" kern="1200">
          <a:solidFill>
            <a:srgbClr val="986633"/>
          </a:solidFill>
          <a:latin typeface="Times New Roman" panose="02020603050405020304" pitchFamily="18" charset="0"/>
          <a:ea typeface="+mj-ea"/>
          <a:cs typeface="Times New Roman" panose="02020603050405020304" pitchFamily="18"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3200" kern="1200">
          <a:solidFill>
            <a:schemeClr val="tx1"/>
          </a:solidFill>
          <a:latin typeface="Times New Roman" panose="02020603050405020304" pitchFamily="18" charset="0"/>
          <a:ea typeface="+mn-ea"/>
          <a:cs typeface="Times New Roman" panose="02020603050405020304" pitchFamily="18" charset="0"/>
        </a:defRPr>
      </a:lvl1pPr>
      <a:lvl2pPr marL="457200" indent="0" algn="l" defTabSz="914400" rtl="0" eaLnBrk="1" latinLnBrk="0" hangingPunct="1">
        <a:lnSpc>
          <a:spcPct val="90000"/>
        </a:lnSpc>
        <a:spcBef>
          <a:spcPts val="500"/>
        </a:spcBef>
        <a:buFont typeface="Arial" panose="020B0604020202020204" pitchFamily="34" charset="0"/>
        <a:buNone/>
        <a:defRPr sz="2800" kern="1200">
          <a:solidFill>
            <a:schemeClr val="tx1"/>
          </a:solidFill>
          <a:latin typeface="Times New Roman" panose="02020603050405020304" pitchFamily="18" charset="0"/>
          <a:ea typeface="+mn-ea"/>
          <a:cs typeface="Times New Roman" panose="02020603050405020304" pitchFamily="18" charset="0"/>
        </a:defRPr>
      </a:lvl2pPr>
      <a:lvl3pPr marL="914400" indent="0" algn="l" defTabSz="914400" rtl="0" eaLnBrk="1" latinLnBrk="0" hangingPunct="1">
        <a:lnSpc>
          <a:spcPct val="90000"/>
        </a:lnSpc>
        <a:spcBef>
          <a:spcPts val="500"/>
        </a:spcBef>
        <a:buFont typeface="Arial" panose="020B0604020202020204" pitchFamily="34" charset="0"/>
        <a:buNone/>
        <a:defRPr sz="2400" kern="1200" baseline="0">
          <a:solidFill>
            <a:schemeClr val="tx1"/>
          </a:solidFill>
          <a:latin typeface="Times New Roman" panose="02020603050405020304" pitchFamily="18" charset="0"/>
          <a:ea typeface="+mn-ea"/>
          <a:cs typeface="Times New Roman" panose="02020603050405020304" pitchFamily="18" charset="0"/>
        </a:defRPr>
      </a:lvl3pPr>
      <a:lvl4pPr marL="13716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Times New Roman" panose="02020603050405020304" pitchFamily="18" charset="0"/>
          <a:ea typeface="+mn-ea"/>
          <a:cs typeface="Times New Roman" panose="02020603050405020304" pitchFamily="18" charset="0"/>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vi-VN" smtClean="0"/>
              <a:t>BỐ CỤC MỘT BÀI THUYẾT TRÌNH</a:t>
            </a:r>
            <a:endParaRPr lang="en-US"/>
          </a:p>
        </p:txBody>
      </p:sp>
      <p:sp>
        <p:nvSpPr>
          <p:cNvPr id="3" name="Subtitle 2"/>
          <p:cNvSpPr>
            <a:spLocks noGrp="1"/>
          </p:cNvSpPr>
          <p:nvPr>
            <p:ph type="subTitle" idx="1"/>
          </p:nvPr>
        </p:nvSpPr>
        <p:spPr/>
        <p:txBody>
          <a:bodyPr>
            <a:normAutofit fontScale="85000" lnSpcReduction="10000"/>
          </a:bodyPr>
          <a:lstStyle/>
          <a:p>
            <a:r>
              <a:rPr lang="vi-VN" smtClean="0"/>
              <a:t>ThS. Họ và Tên </a:t>
            </a:r>
          </a:p>
          <a:p>
            <a:r>
              <a:rPr lang="vi-VN" sz="2000" b="0" smtClean="0"/>
              <a:t>                                                                  </a:t>
            </a:r>
          </a:p>
          <a:p>
            <a:endParaRPr lang="vi-VN" sz="2000" b="0"/>
          </a:p>
          <a:p>
            <a:r>
              <a:rPr lang="vi-VN" sz="2000" b="0" smtClean="0"/>
              <a:t>                                                                                      </a:t>
            </a:r>
            <a:r>
              <a:rPr lang="en-US" sz="2400" smtClean="0"/>
              <a:t>Trích từ Tủ sách Khoa học VLOS</a:t>
            </a:r>
          </a:p>
          <a:p>
            <a:endParaRPr lang="en-US"/>
          </a:p>
        </p:txBody>
      </p:sp>
    </p:spTree>
    <p:extLst>
      <p:ext uri="{BB962C8B-B14F-4D97-AF65-F5344CB8AC3E}">
        <p14:creationId xmlns:p14="http://schemas.microsoft.com/office/powerpoint/2010/main" val="168490204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circle(in)">
                                      <p:cBhvr>
                                        <p:cTn id="17"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716" y="787155"/>
            <a:ext cx="10515600" cy="1325563"/>
          </a:xfrm>
        </p:spPr>
        <p:txBody>
          <a:bodyPr/>
          <a:lstStyle/>
          <a:p>
            <a:r>
              <a:rPr lang="vi-VN" smtClean="0"/>
              <a:t>Giới thiệu</a:t>
            </a:r>
            <a:endParaRPr lang="en-US"/>
          </a:p>
        </p:txBody>
      </p:sp>
      <p:sp>
        <p:nvSpPr>
          <p:cNvPr id="3" name="Content Placeholder 2"/>
          <p:cNvSpPr>
            <a:spLocks noGrp="1"/>
          </p:cNvSpPr>
          <p:nvPr>
            <p:ph idx="1"/>
          </p:nvPr>
        </p:nvSpPr>
        <p:spPr>
          <a:xfrm>
            <a:off x="767862" y="1983887"/>
            <a:ext cx="10515600" cy="4351338"/>
          </a:xfrm>
        </p:spPr>
        <p:txBody>
          <a:bodyPr>
            <a:normAutofit/>
          </a:bodyPr>
          <a:lstStyle/>
          <a:p>
            <a:r>
              <a:rPr lang="vi-VN" smtClean="0"/>
              <a:t>Phần mở đầu</a:t>
            </a:r>
          </a:p>
          <a:p>
            <a:pPr lvl="1"/>
            <a:r>
              <a:rPr lang="vi-VN" smtClean="0"/>
              <a:t>Cần đạt được mục đích</a:t>
            </a:r>
          </a:p>
          <a:p>
            <a:r>
              <a:rPr lang="vi-VN" smtClean="0"/>
              <a:t>Phần chính</a:t>
            </a:r>
          </a:p>
          <a:p>
            <a:pPr lvl="1"/>
            <a:r>
              <a:rPr lang="vi-VN" smtClean="0"/>
              <a:t>Đưa ra các giải pháp, ý kiến</a:t>
            </a:r>
          </a:p>
          <a:p>
            <a:r>
              <a:rPr lang="vi-VN" smtClean="0"/>
              <a:t>Phần kết</a:t>
            </a:r>
            <a:r>
              <a:rPr lang="vi-VN"/>
              <a:t>	</a:t>
            </a:r>
            <a:endParaRPr lang="vi-VN" smtClean="0"/>
          </a:p>
          <a:p>
            <a:pPr lvl="1"/>
            <a:r>
              <a:rPr lang="vi-VN" smtClean="0"/>
              <a:t>Tóm tắt các nội dung đã được trình bày</a:t>
            </a:r>
            <a:endParaRPr lang="vi-VN"/>
          </a:p>
          <a:p>
            <a:endParaRPr lang="vi-VN" smtClean="0"/>
          </a:p>
        </p:txBody>
      </p:sp>
    </p:spTree>
    <p:extLst>
      <p:ext uri="{BB962C8B-B14F-4D97-AF65-F5344CB8AC3E}">
        <p14:creationId xmlns:p14="http://schemas.microsoft.com/office/powerpoint/2010/main" val="415342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854" y="848702"/>
            <a:ext cx="10515600" cy="1325563"/>
          </a:xfrm>
        </p:spPr>
        <p:txBody>
          <a:bodyPr/>
          <a:lstStyle/>
          <a:p>
            <a:r>
              <a:rPr lang="vi-VN" smtClean="0"/>
              <a:t>Phần mở đầu</a:t>
            </a:r>
            <a:endParaRPr lang="en-US"/>
          </a:p>
        </p:txBody>
      </p:sp>
      <p:sp>
        <p:nvSpPr>
          <p:cNvPr id="3" name="Content Placeholder 2"/>
          <p:cNvSpPr>
            <a:spLocks noGrp="1"/>
          </p:cNvSpPr>
          <p:nvPr>
            <p:ph idx="1"/>
          </p:nvPr>
        </p:nvSpPr>
        <p:spPr>
          <a:xfrm>
            <a:off x="583223" y="2174265"/>
            <a:ext cx="10515600" cy="4351338"/>
          </a:xfrm>
        </p:spPr>
        <p:txBody>
          <a:bodyPr/>
          <a:lstStyle/>
          <a:p>
            <a:r>
              <a:rPr lang="vi-VN" smtClean="0"/>
              <a:t>Thu hút sự chú ý của người nghe</a:t>
            </a:r>
          </a:p>
          <a:p>
            <a:pPr lvl="1"/>
            <a:r>
              <a:rPr lang="vi-VN" smtClean="0">
                <a:hlinkClick r:id="rId2" action="ppaction://hlinksldjump"/>
              </a:rPr>
              <a:t>Sử dụng một đoạn trích dẫn</a:t>
            </a:r>
            <a:endParaRPr lang="vi-VN" smtClean="0"/>
          </a:p>
          <a:p>
            <a:pPr lvl="1"/>
            <a:r>
              <a:rPr lang="vi-VN" smtClean="0"/>
              <a:t>Một câu hỏi</a:t>
            </a:r>
          </a:p>
          <a:p>
            <a:pPr lvl="1"/>
            <a:r>
              <a:rPr lang="vi-VN" smtClean="0"/>
              <a:t>Thậm chí làm mọi người phải hoạt động</a:t>
            </a:r>
          </a:p>
          <a:p>
            <a:r>
              <a:rPr lang="vi-VN" smtClean="0"/>
              <a:t>Tóm lược các nội dung liên quan</a:t>
            </a:r>
          </a:p>
          <a:p>
            <a:pPr lvl="1"/>
            <a:r>
              <a:rPr lang="vi-VN" smtClean="0"/>
              <a:t>Đã được trình bày</a:t>
            </a:r>
          </a:p>
          <a:p>
            <a:pPr lvl="1"/>
            <a:r>
              <a:rPr lang="vi-VN" smtClean="0"/>
              <a:t>Đ</a:t>
            </a:r>
            <a:r>
              <a:rPr lang="en-US" smtClean="0"/>
              <a:t>ược</a:t>
            </a:r>
            <a:r>
              <a:rPr lang="vi-VN" smtClean="0"/>
              <a:t> đa số người nghe biết rõ</a:t>
            </a:r>
          </a:p>
        </p:txBody>
      </p:sp>
    </p:spTree>
    <p:extLst>
      <p:ext uri="{BB962C8B-B14F-4D97-AF65-F5344CB8AC3E}">
        <p14:creationId xmlns:p14="http://schemas.microsoft.com/office/powerpoint/2010/main" val="377628043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6170" y="831118"/>
            <a:ext cx="10515600" cy="1325563"/>
          </a:xfrm>
        </p:spPr>
        <p:txBody>
          <a:bodyPr/>
          <a:lstStyle/>
          <a:p>
            <a:r>
              <a:rPr lang="vi-VN" smtClean="0"/>
              <a:t>Phần chính</a:t>
            </a:r>
            <a:endParaRPr lang="en-US"/>
          </a:p>
        </p:txBody>
      </p:sp>
      <p:sp>
        <p:nvSpPr>
          <p:cNvPr id="3" name="Content Placeholder 2"/>
          <p:cNvSpPr>
            <a:spLocks noGrp="1"/>
          </p:cNvSpPr>
          <p:nvPr>
            <p:ph idx="1"/>
          </p:nvPr>
        </p:nvSpPr>
        <p:spPr>
          <a:xfrm>
            <a:off x="741485" y="2238863"/>
            <a:ext cx="10515600" cy="4351338"/>
          </a:xfrm>
        </p:spPr>
        <p:txBody>
          <a:bodyPr/>
          <a:lstStyle/>
          <a:p>
            <a:r>
              <a:rPr lang="vi-VN" smtClean="0"/>
              <a:t>Phần chính với các nội dung</a:t>
            </a:r>
          </a:p>
          <a:p>
            <a:pPr lvl="1"/>
            <a:r>
              <a:rPr lang="vi-VN" smtClean="0"/>
              <a:t>Vấn đề cần giải quyết, yêu cầu công việc</a:t>
            </a:r>
          </a:p>
          <a:p>
            <a:pPr lvl="1"/>
            <a:r>
              <a:rPr lang="vi-VN" smtClean="0"/>
              <a:t>Ý tưởng và giải pháp</a:t>
            </a:r>
          </a:p>
          <a:p>
            <a:pPr lvl="1"/>
            <a:r>
              <a:rPr lang="vi-VN" smtClean="0">
                <a:hlinkClick r:id="rId2" action="ppaction://hlinksldjump"/>
              </a:rPr>
              <a:t>Cung cấp ví dụ để chứng minh</a:t>
            </a:r>
            <a:endParaRPr lang="vi-VN" smtClean="0"/>
          </a:p>
          <a:p>
            <a:pPr lvl="1"/>
            <a:r>
              <a:rPr lang="vi-VN" smtClean="0"/>
              <a:t>Lợi ích khi áp dụng giải pháp</a:t>
            </a:r>
          </a:p>
          <a:p>
            <a:pPr lvl="1"/>
            <a:r>
              <a:rPr lang="vi-VN" smtClean="0"/>
              <a:t>Chương trình hành động/các việc làm cụ thể</a:t>
            </a:r>
            <a:endParaRPr lang="en-US"/>
          </a:p>
        </p:txBody>
      </p:sp>
    </p:spTree>
    <p:extLst>
      <p:ext uri="{BB962C8B-B14F-4D97-AF65-F5344CB8AC3E}">
        <p14:creationId xmlns:p14="http://schemas.microsoft.com/office/powerpoint/2010/main" val="311810366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circle(in)">
                                      <p:cBhvr>
                                        <p:cTn id="15" dur="2000"/>
                                        <p:tgtEl>
                                          <p:spTgt spid="3">
                                            <p:txEl>
                                              <p:pRg st="1" end="1"/>
                                            </p:txEl>
                                          </p:spTgt>
                                        </p:tgtEl>
                                      </p:cBhvr>
                                    </p:animEffect>
                                  </p:childTnLst>
                                </p:cTn>
                              </p:par>
                              <p:par>
                                <p:cTn id="16" presetID="6" presetClass="entr" presetSubtype="16"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circle(in)">
                                      <p:cBhvr>
                                        <p:cTn id="18" dur="2000"/>
                                        <p:tgtEl>
                                          <p:spTgt spid="3">
                                            <p:txEl>
                                              <p:pRg st="2" end="2"/>
                                            </p:txEl>
                                          </p:spTgt>
                                        </p:tgtEl>
                                      </p:cBhvr>
                                    </p:animEffect>
                                  </p:childTnLst>
                                </p:cTn>
                              </p:par>
                              <p:par>
                                <p:cTn id="19" presetID="6" presetClass="entr" presetSubtype="16"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circle(in)">
                                      <p:cBhvr>
                                        <p:cTn id="21" dur="2000"/>
                                        <p:tgtEl>
                                          <p:spTgt spid="3">
                                            <p:txEl>
                                              <p:pRg st="3" end="3"/>
                                            </p:txEl>
                                          </p:spTgt>
                                        </p:tgtEl>
                                      </p:cBhvr>
                                    </p:animEffect>
                                  </p:childTnLst>
                                </p:cTn>
                              </p:par>
                              <p:par>
                                <p:cTn id="22" presetID="6" presetClass="entr" presetSubtype="16"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circle(in)">
                                      <p:cBhvr>
                                        <p:cTn id="24" dur="2000"/>
                                        <p:tgtEl>
                                          <p:spTgt spid="3">
                                            <p:txEl>
                                              <p:pRg st="4" end="4"/>
                                            </p:txEl>
                                          </p:spTgt>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circle(in)">
                                      <p:cBhvr>
                                        <p:cTn id="27" dur="2000"/>
                                        <p:tgtEl>
                                          <p:spTgt spid="3">
                                            <p:txEl>
                                              <p:pRg st="5" end="5"/>
                                            </p:txEl>
                                          </p:spTgt>
                                        </p:tgtEl>
                                      </p:cBhvr>
                                    </p:animEffect>
                                  </p:childTnLst>
                                </p:cTn>
                              </p:par>
                              <p:par>
                                <p:cTn id="28" presetID="10" presetClass="entr" presetSubtype="0" fill="hold" grpId="1" nodeType="with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fade">
                                      <p:cBhvr>
                                        <p:cTn id="30" dur="500"/>
                                        <p:tgtEl>
                                          <p:spTgt spid="3">
                                            <p:txEl>
                                              <p:pRg st="1" end="1"/>
                                            </p:txEl>
                                          </p:spTgt>
                                        </p:tgtEl>
                                      </p:cBhvr>
                                    </p:animEffect>
                                  </p:childTnLst>
                                </p:cTn>
                              </p:par>
                              <p:par>
                                <p:cTn id="31" presetID="10" presetClass="entr" presetSubtype="0" fill="hold" grpId="1" nodeType="with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animEffect transition="in" filter="fade">
                                      <p:cBhvr>
                                        <p:cTn id="33" dur="500"/>
                                        <p:tgtEl>
                                          <p:spTgt spid="3">
                                            <p:txEl>
                                              <p:pRg st="2" end="2"/>
                                            </p:txEl>
                                          </p:spTgt>
                                        </p:tgtEl>
                                      </p:cBhvr>
                                    </p:animEffect>
                                  </p:childTnLst>
                                </p:cTn>
                              </p:par>
                              <p:par>
                                <p:cTn id="34" presetID="10" presetClass="entr" presetSubtype="0" fill="hold" grpId="1" nodeType="with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fade">
                                      <p:cBhvr>
                                        <p:cTn id="36" dur="500"/>
                                        <p:tgtEl>
                                          <p:spTgt spid="3">
                                            <p:txEl>
                                              <p:pRg st="3" end="3"/>
                                            </p:txEl>
                                          </p:spTgt>
                                        </p:tgtEl>
                                      </p:cBhvr>
                                    </p:animEffect>
                                  </p:childTnLst>
                                </p:cTn>
                              </p:par>
                              <p:par>
                                <p:cTn id="37" presetID="10" presetClass="entr" presetSubtype="0" fill="hold" grpId="1" nodeType="with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fade">
                                      <p:cBhvr>
                                        <p:cTn id="39" dur="500"/>
                                        <p:tgtEl>
                                          <p:spTgt spid="3">
                                            <p:txEl>
                                              <p:pRg st="4" end="4"/>
                                            </p:txEl>
                                          </p:spTgt>
                                        </p:tgtEl>
                                      </p:cBhvr>
                                    </p:animEffect>
                                  </p:childTnLst>
                                </p:cTn>
                              </p:par>
                              <p:par>
                                <p:cTn id="40" presetID="10" presetClass="entr" presetSubtype="0" fill="hold" grpId="1" nodeType="with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0469" y="825378"/>
            <a:ext cx="10515600" cy="1325563"/>
          </a:xfrm>
        </p:spPr>
        <p:txBody>
          <a:bodyPr/>
          <a:lstStyle/>
          <a:p>
            <a:r>
              <a:rPr lang="vi-VN" smtClean="0"/>
              <a:t>Phần kết</a:t>
            </a:r>
            <a:endParaRPr lang="en-US"/>
          </a:p>
        </p:txBody>
      </p:sp>
      <p:sp>
        <p:nvSpPr>
          <p:cNvPr id="3" name="Content Placeholder 2"/>
          <p:cNvSpPr>
            <a:spLocks noGrp="1"/>
          </p:cNvSpPr>
          <p:nvPr>
            <p:ph idx="1"/>
          </p:nvPr>
        </p:nvSpPr>
        <p:spPr>
          <a:xfrm>
            <a:off x="723900" y="2150941"/>
            <a:ext cx="10515600" cy="4351338"/>
          </a:xfrm>
        </p:spPr>
        <p:txBody>
          <a:bodyPr/>
          <a:lstStyle/>
          <a:p>
            <a:r>
              <a:rPr lang="vi-VN" smtClean="0"/>
              <a:t>Tóm tắt</a:t>
            </a:r>
          </a:p>
          <a:p>
            <a:r>
              <a:rPr lang="vi-VN" smtClean="0"/>
              <a:t>Kết luận cuối cùng</a:t>
            </a:r>
          </a:p>
          <a:p>
            <a:pPr lvl="1"/>
            <a:r>
              <a:rPr lang="vi-VN" smtClean="0"/>
              <a:t>Liệu còn điều gì bạn muốn người nghe ghi nhớ?</a:t>
            </a:r>
            <a:endParaRPr lang="en-US"/>
          </a:p>
        </p:txBody>
      </p:sp>
    </p:spTree>
    <p:extLst>
      <p:ext uri="{BB962C8B-B14F-4D97-AF65-F5344CB8AC3E}">
        <p14:creationId xmlns:p14="http://schemas.microsoft.com/office/powerpoint/2010/main" val="54979207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2580787"/>
            <a:ext cx="10515600" cy="1325563"/>
          </a:xfrm>
        </p:spPr>
        <p:txBody>
          <a:bodyPr/>
          <a:lstStyle/>
          <a:p>
            <a:pPr algn="ctr"/>
            <a:r>
              <a:rPr lang="vi-VN" b="1" smtClean="0"/>
              <a:t>Cám ơn sự chú ý của quý vị</a:t>
            </a:r>
            <a:endParaRPr lang="en-US" b="1"/>
          </a:p>
        </p:txBody>
      </p:sp>
    </p:spTree>
    <p:extLst>
      <p:ext uri="{BB962C8B-B14F-4D97-AF65-F5344CB8AC3E}">
        <p14:creationId xmlns:p14="http://schemas.microsoft.com/office/powerpoint/2010/main" val="37433680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676" y="309317"/>
            <a:ext cx="11353800" cy="1325563"/>
          </a:xfrm>
        </p:spPr>
        <p:txBody>
          <a:bodyPr/>
          <a:lstStyle/>
          <a:p>
            <a:r>
              <a:rPr lang="en-US" smtClean="0"/>
              <a:t>Ví dụ: sử dụng một đoạn trích dẫn khi giới thiệu</a:t>
            </a:r>
            <a:endParaRPr lang="en-US"/>
          </a:p>
        </p:txBody>
      </p:sp>
      <p:sp>
        <p:nvSpPr>
          <p:cNvPr id="3" name="Content Placeholder 2"/>
          <p:cNvSpPr>
            <a:spLocks noGrp="1"/>
          </p:cNvSpPr>
          <p:nvPr>
            <p:ph idx="1"/>
          </p:nvPr>
        </p:nvSpPr>
        <p:spPr>
          <a:xfrm>
            <a:off x="521676" y="1634880"/>
            <a:ext cx="10515600" cy="4351338"/>
          </a:xfrm>
        </p:spPr>
        <p:txBody>
          <a:bodyPr/>
          <a:lstStyle/>
          <a:p>
            <a:r>
              <a:rPr lang="vi-VN" smtClean="0"/>
              <a:t>Ví dụ: Ta có thể phát biểu trích dẫn lợi ích khi học ngành công nghệ thông tin</a:t>
            </a:r>
          </a:p>
          <a:p>
            <a:pPr marL="0" indent="0" algn="just">
              <a:buNone/>
            </a:pPr>
            <a:r>
              <a:rPr lang="vi-VN" smtClean="0"/>
              <a:t>        “Hàng năm, công nghệ mới luôn được phát triển và thể     hiện tầm quan trọng của nó đối với cuộc sống. Các doanh nghiệp cũng thay đổi theo hướng cập nhật công nghệ thông tin yêu cầu sự thay đổi về nhân sự giỏi công nghệ. Ngành học CNTT được coi là lĩnh vực ngày một phát triển và trở nên hữu ích cho các bạn muốn xây dựng sự nghiệp với ngành này. Vậy những lợi ích khi học ngành CNTT là gì?”</a:t>
            </a:r>
          </a:p>
          <a:p>
            <a:pPr marL="0" indent="0">
              <a:buNone/>
            </a:pPr>
            <a:endParaRPr lang="en-US"/>
          </a:p>
        </p:txBody>
      </p:sp>
      <p:sp>
        <p:nvSpPr>
          <p:cNvPr id="4" name="Action Button: Return 3">
            <a:hlinkClick r:id="rId2" action="ppaction://hlinksldjump" highlightClick="1"/>
          </p:cNvPr>
          <p:cNvSpPr/>
          <p:nvPr/>
        </p:nvSpPr>
        <p:spPr>
          <a:xfrm>
            <a:off x="4941277" y="5728554"/>
            <a:ext cx="1626577" cy="1067899"/>
          </a:xfrm>
          <a:prstGeom prst="actionButtonRetur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490058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115" y="549763"/>
            <a:ext cx="10515600" cy="777875"/>
          </a:xfrm>
        </p:spPr>
        <p:txBody>
          <a:bodyPr>
            <a:normAutofit fontScale="90000"/>
          </a:bodyPr>
          <a:lstStyle/>
          <a:p>
            <a:r>
              <a:rPr lang="vi-VN" smtClean="0"/>
              <a:t/>
            </a:r>
            <a:br>
              <a:rPr lang="vi-VN" smtClean="0"/>
            </a:br>
            <a:r>
              <a:rPr lang="vi-VN"/>
              <a:t/>
            </a:r>
            <a:br>
              <a:rPr lang="vi-VN"/>
            </a:br>
            <a:r>
              <a:rPr lang="en-US" smtClean="0"/>
              <a:t>Ví </a:t>
            </a:r>
            <a:r>
              <a:rPr lang="en-US"/>
              <a:t>dụ minh chứng một vấn đề</a:t>
            </a:r>
            <a:r>
              <a:rPr lang="en-US" smtClean="0"/>
              <a:t/>
            </a:r>
            <a:br>
              <a:rPr lang="en-US" smtClean="0"/>
            </a:br>
            <a:r>
              <a:rPr lang="en-US" smtClean="0"/>
              <a:t/>
            </a:r>
            <a:br>
              <a:rPr lang="en-US" smtClean="0"/>
            </a:br>
            <a:endParaRPr lang="en-US"/>
          </a:p>
        </p:txBody>
      </p:sp>
      <p:sp>
        <p:nvSpPr>
          <p:cNvPr id="3" name="Content Placeholder 2"/>
          <p:cNvSpPr>
            <a:spLocks noGrp="1"/>
          </p:cNvSpPr>
          <p:nvPr>
            <p:ph idx="1"/>
          </p:nvPr>
        </p:nvSpPr>
        <p:spPr>
          <a:xfrm>
            <a:off x="521677" y="1429971"/>
            <a:ext cx="10515600" cy="4351338"/>
          </a:xfrm>
        </p:spPr>
        <p:txBody>
          <a:bodyPr/>
          <a:lstStyle/>
          <a:p>
            <a:r>
              <a:rPr lang="en-US" smtClean="0"/>
              <a:t>Bảng thống kê kết quả tuyển sinh 2020</a:t>
            </a:r>
            <a:endParaRPr lang="vi-VN" smtClean="0"/>
          </a:p>
          <a:p>
            <a:endParaRPr lang="en-US"/>
          </a:p>
        </p:txBody>
      </p:sp>
      <p:graphicFrame>
        <p:nvGraphicFramePr>
          <p:cNvPr id="4" name="Table 3"/>
          <p:cNvGraphicFramePr>
            <a:graphicFrameLocks noGrp="1"/>
          </p:cNvGraphicFramePr>
          <p:nvPr>
            <p:extLst>
              <p:ext uri="{D42A27DB-BD31-4B8C-83A1-F6EECF244321}">
                <p14:modId xmlns:p14="http://schemas.microsoft.com/office/powerpoint/2010/main" val="952860282"/>
              </p:ext>
            </p:extLst>
          </p:nvPr>
        </p:nvGraphicFramePr>
        <p:xfrm>
          <a:off x="1594339" y="2075779"/>
          <a:ext cx="8710246" cy="4474490"/>
        </p:xfrm>
        <a:graphic>
          <a:graphicData uri="http://schemas.openxmlformats.org/drawingml/2006/table">
            <a:tbl>
              <a:tblPr>
                <a:tableStyleId>{5940675A-B579-460E-94D1-54222C63F5DA}</a:tableStyleId>
              </a:tblPr>
              <a:tblGrid>
                <a:gridCol w="4355123">
                  <a:extLst>
                    <a:ext uri="{9D8B030D-6E8A-4147-A177-3AD203B41FA5}">
                      <a16:colId xmlns="" xmlns:a16="http://schemas.microsoft.com/office/drawing/2014/main" val="1782430095"/>
                    </a:ext>
                  </a:extLst>
                </a:gridCol>
                <a:gridCol w="4355123">
                  <a:extLst>
                    <a:ext uri="{9D8B030D-6E8A-4147-A177-3AD203B41FA5}">
                      <a16:colId xmlns="" xmlns:a16="http://schemas.microsoft.com/office/drawing/2014/main" val="137410148"/>
                    </a:ext>
                  </a:extLst>
                </a:gridCol>
              </a:tblGrid>
              <a:tr h="447449">
                <a:tc>
                  <a:txBody>
                    <a:bodyPr/>
                    <a:lstStyle/>
                    <a:p>
                      <a:r>
                        <a:rPr lang="en-US"/>
                        <a:t>Tên ngành/chuyên ngành</a:t>
                      </a:r>
                    </a:p>
                  </a:txBody>
                  <a:tcPr anchor="ctr">
                    <a:solidFill>
                      <a:schemeClr val="bg1"/>
                    </a:solidFill>
                  </a:tcPr>
                </a:tc>
                <a:tc>
                  <a:txBody>
                    <a:bodyPr/>
                    <a:lstStyle/>
                    <a:p>
                      <a:pPr algn="ctr"/>
                      <a:r>
                        <a:rPr lang="vi-VN"/>
                        <a:t>Số lượng tuyển sinh</a:t>
                      </a:r>
                    </a:p>
                  </a:txBody>
                  <a:tcPr anchor="ctr">
                    <a:solidFill>
                      <a:schemeClr val="bg1"/>
                    </a:solidFill>
                  </a:tcPr>
                </a:tc>
                <a:extLst>
                  <a:ext uri="{0D108BD9-81ED-4DB2-BD59-A6C34878D82A}">
                    <a16:rowId xmlns="" xmlns:a16="http://schemas.microsoft.com/office/drawing/2014/main" val="82519981"/>
                  </a:ext>
                </a:extLst>
              </a:tr>
              <a:tr h="447449">
                <a:tc>
                  <a:txBody>
                    <a:bodyPr/>
                    <a:lstStyle/>
                    <a:p>
                      <a:r>
                        <a:rPr lang="en-US"/>
                        <a:t>Công nghệ thông tin</a:t>
                      </a:r>
                    </a:p>
                  </a:txBody>
                  <a:tcPr anchor="ctr">
                    <a:solidFill>
                      <a:schemeClr val="bg1"/>
                    </a:solidFill>
                  </a:tcPr>
                </a:tc>
                <a:tc>
                  <a:txBody>
                    <a:bodyPr/>
                    <a:lstStyle/>
                    <a:p>
                      <a:pPr algn="ctr"/>
                      <a:r>
                        <a:rPr lang="en-US"/>
                        <a:t>272</a:t>
                      </a:r>
                    </a:p>
                  </a:txBody>
                  <a:tcPr anchor="ctr">
                    <a:solidFill>
                      <a:schemeClr val="bg1"/>
                    </a:solidFill>
                  </a:tcPr>
                </a:tc>
                <a:extLst>
                  <a:ext uri="{0D108BD9-81ED-4DB2-BD59-A6C34878D82A}">
                    <a16:rowId xmlns="" xmlns:a16="http://schemas.microsoft.com/office/drawing/2014/main" val="3928589087"/>
                  </a:ext>
                </a:extLst>
              </a:tr>
              <a:tr h="447449">
                <a:tc>
                  <a:txBody>
                    <a:bodyPr/>
                    <a:lstStyle/>
                    <a:p>
                      <a:r>
                        <a:rPr lang="en-US"/>
                        <a:t>Công nghệ thông tin – CLC</a:t>
                      </a:r>
                    </a:p>
                  </a:txBody>
                  <a:tcPr anchor="ctr">
                    <a:solidFill>
                      <a:schemeClr val="bg1"/>
                    </a:solidFill>
                  </a:tcPr>
                </a:tc>
                <a:tc>
                  <a:txBody>
                    <a:bodyPr/>
                    <a:lstStyle/>
                    <a:p>
                      <a:pPr algn="ctr"/>
                      <a:r>
                        <a:rPr lang="en-US"/>
                        <a:t>144</a:t>
                      </a:r>
                    </a:p>
                  </a:txBody>
                  <a:tcPr anchor="ctr">
                    <a:solidFill>
                      <a:schemeClr val="bg1"/>
                    </a:solidFill>
                  </a:tcPr>
                </a:tc>
                <a:extLst>
                  <a:ext uri="{0D108BD9-81ED-4DB2-BD59-A6C34878D82A}">
                    <a16:rowId xmlns="" xmlns:a16="http://schemas.microsoft.com/office/drawing/2014/main" val="3592986422"/>
                  </a:ext>
                </a:extLst>
              </a:tr>
              <a:tr h="447449">
                <a:tc>
                  <a:txBody>
                    <a:bodyPr/>
                    <a:lstStyle/>
                    <a:p>
                      <a:r>
                        <a:rPr lang="sv-SE"/>
                        <a:t>Công nghệ thông tin – HA</a:t>
                      </a:r>
                    </a:p>
                  </a:txBody>
                  <a:tcPr anchor="ctr">
                    <a:solidFill>
                      <a:schemeClr val="bg1"/>
                    </a:solidFill>
                  </a:tcPr>
                </a:tc>
                <a:tc>
                  <a:txBody>
                    <a:bodyPr/>
                    <a:lstStyle/>
                    <a:p>
                      <a:pPr algn="ctr"/>
                      <a:r>
                        <a:rPr lang="en-US"/>
                        <a:t>75</a:t>
                      </a:r>
                    </a:p>
                  </a:txBody>
                  <a:tcPr anchor="ctr">
                    <a:solidFill>
                      <a:schemeClr val="bg1"/>
                    </a:solidFill>
                  </a:tcPr>
                </a:tc>
                <a:extLst>
                  <a:ext uri="{0D108BD9-81ED-4DB2-BD59-A6C34878D82A}">
                    <a16:rowId xmlns="" xmlns:a16="http://schemas.microsoft.com/office/drawing/2014/main" val="308404627"/>
                  </a:ext>
                </a:extLst>
              </a:tr>
              <a:tr h="447449">
                <a:tc>
                  <a:txBody>
                    <a:bodyPr/>
                    <a:lstStyle/>
                    <a:p>
                      <a:r>
                        <a:rPr lang="en-US"/>
                        <a:t>Mạng máy tính và truyền thông dữ liệu</a:t>
                      </a:r>
                    </a:p>
                  </a:txBody>
                  <a:tcPr anchor="ctr">
                    <a:solidFill>
                      <a:schemeClr val="bg1"/>
                    </a:solidFill>
                  </a:tcPr>
                </a:tc>
                <a:tc>
                  <a:txBody>
                    <a:bodyPr/>
                    <a:lstStyle/>
                    <a:p>
                      <a:pPr algn="ctr"/>
                      <a:r>
                        <a:rPr lang="en-US"/>
                        <a:t>149</a:t>
                      </a:r>
                    </a:p>
                  </a:txBody>
                  <a:tcPr anchor="ctr">
                    <a:solidFill>
                      <a:schemeClr val="bg1"/>
                    </a:solidFill>
                  </a:tcPr>
                </a:tc>
                <a:extLst>
                  <a:ext uri="{0D108BD9-81ED-4DB2-BD59-A6C34878D82A}">
                    <a16:rowId xmlns="" xmlns:a16="http://schemas.microsoft.com/office/drawing/2014/main" val="851107560"/>
                  </a:ext>
                </a:extLst>
              </a:tr>
              <a:tr h="447449">
                <a:tc>
                  <a:txBody>
                    <a:bodyPr/>
                    <a:lstStyle/>
                    <a:p>
                      <a:r>
                        <a:rPr lang="en-US"/>
                        <a:t>Kỹ thuật phần mềm</a:t>
                      </a:r>
                    </a:p>
                  </a:txBody>
                  <a:tcPr anchor="ctr">
                    <a:solidFill>
                      <a:schemeClr val="bg1"/>
                    </a:solidFill>
                  </a:tcPr>
                </a:tc>
                <a:tc>
                  <a:txBody>
                    <a:bodyPr/>
                    <a:lstStyle/>
                    <a:p>
                      <a:pPr algn="ctr"/>
                      <a:r>
                        <a:rPr lang="en-US"/>
                        <a:t>266</a:t>
                      </a:r>
                    </a:p>
                  </a:txBody>
                  <a:tcPr anchor="ctr">
                    <a:solidFill>
                      <a:schemeClr val="bg1"/>
                    </a:solidFill>
                  </a:tcPr>
                </a:tc>
                <a:extLst>
                  <a:ext uri="{0D108BD9-81ED-4DB2-BD59-A6C34878D82A}">
                    <a16:rowId xmlns="" xmlns:a16="http://schemas.microsoft.com/office/drawing/2014/main" val="1108621281"/>
                  </a:ext>
                </a:extLst>
              </a:tr>
              <a:tr h="447449">
                <a:tc>
                  <a:txBody>
                    <a:bodyPr/>
                    <a:lstStyle/>
                    <a:p>
                      <a:r>
                        <a:rPr lang="en-US"/>
                        <a:t>Hệ thống thông tin</a:t>
                      </a:r>
                    </a:p>
                  </a:txBody>
                  <a:tcPr anchor="ctr">
                    <a:solidFill>
                      <a:schemeClr val="bg1"/>
                    </a:solidFill>
                  </a:tcPr>
                </a:tc>
                <a:tc>
                  <a:txBody>
                    <a:bodyPr/>
                    <a:lstStyle/>
                    <a:p>
                      <a:pPr algn="ctr"/>
                      <a:r>
                        <a:rPr lang="en-US"/>
                        <a:t>135</a:t>
                      </a:r>
                    </a:p>
                  </a:txBody>
                  <a:tcPr anchor="ctr">
                    <a:solidFill>
                      <a:schemeClr val="bg1"/>
                    </a:solidFill>
                  </a:tcPr>
                </a:tc>
                <a:extLst>
                  <a:ext uri="{0D108BD9-81ED-4DB2-BD59-A6C34878D82A}">
                    <a16:rowId xmlns="" xmlns:a16="http://schemas.microsoft.com/office/drawing/2014/main" val="668577862"/>
                  </a:ext>
                </a:extLst>
              </a:tr>
              <a:tr h="447449">
                <a:tc>
                  <a:txBody>
                    <a:bodyPr/>
                    <a:lstStyle/>
                    <a:p>
                      <a:r>
                        <a:rPr lang="en-US"/>
                        <a:t>Khoa học máy tính</a:t>
                      </a:r>
                    </a:p>
                  </a:txBody>
                  <a:tcPr anchor="ctr">
                    <a:solidFill>
                      <a:schemeClr val="bg1"/>
                    </a:solidFill>
                  </a:tcPr>
                </a:tc>
                <a:tc>
                  <a:txBody>
                    <a:bodyPr/>
                    <a:lstStyle/>
                    <a:p>
                      <a:pPr algn="ctr"/>
                      <a:r>
                        <a:rPr lang="en-US"/>
                        <a:t>178</a:t>
                      </a:r>
                    </a:p>
                  </a:txBody>
                  <a:tcPr anchor="ctr">
                    <a:solidFill>
                      <a:schemeClr val="bg1"/>
                    </a:solidFill>
                  </a:tcPr>
                </a:tc>
                <a:extLst>
                  <a:ext uri="{0D108BD9-81ED-4DB2-BD59-A6C34878D82A}">
                    <a16:rowId xmlns="" xmlns:a16="http://schemas.microsoft.com/office/drawing/2014/main" val="2530780562"/>
                  </a:ext>
                </a:extLst>
              </a:tr>
              <a:tr h="447449">
                <a:tc>
                  <a:txBody>
                    <a:bodyPr/>
                    <a:lstStyle/>
                    <a:p>
                      <a:r>
                        <a:rPr lang="en-US"/>
                        <a:t>Tin học ứng dụng</a:t>
                      </a:r>
                    </a:p>
                  </a:txBody>
                  <a:tcPr anchor="ctr">
                    <a:solidFill>
                      <a:schemeClr val="bg1"/>
                    </a:solidFill>
                  </a:tcPr>
                </a:tc>
                <a:tc>
                  <a:txBody>
                    <a:bodyPr/>
                    <a:lstStyle/>
                    <a:p>
                      <a:pPr algn="ctr"/>
                      <a:r>
                        <a:rPr lang="en-US"/>
                        <a:t>32</a:t>
                      </a:r>
                    </a:p>
                  </a:txBody>
                  <a:tcPr anchor="ctr">
                    <a:solidFill>
                      <a:schemeClr val="bg1"/>
                    </a:solidFill>
                  </a:tcPr>
                </a:tc>
                <a:extLst>
                  <a:ext uri="{0D108BD9-81ED-4DB2-BD59-A6C34878D82A}">
                    <a16:rowId xmlns="" xmlns:a16="http://schemas.microsoft.com/office/drawing/2014/main" val="712155323"/>
                  </a:ext>
                </a:extLst>
              </a:tr>
              <a:tr h="447449">
                <a:tc>
                  <a:txBody>
                    <a:bodyPr/>
                    <a:lstStyle/>
                    <a:p>
                      <a:r>
                        <a:rPr lang="en-US"/>
                        <a:t>Tổng</a:t>
                      </a:r>
                    </a:p>
                  </a:txBody>
                  <a:tcPr anchor="ctr">
                    <a:solidFill>
                      <a:schemeClr val="bg1"/>
                    </a:solidFill>
                  </a:tcPr>
                </a:tc>
                <a:tc>
                  <a:txBody>
                    <a:bodyPr/>
                    <a:lstStyle/>
                    <a:p>
                      <a:pPr algn="ctr"/>
                      <a:r>
                        <a:rPr lang="en-US"/>
                        <a:t>1251</a:t>
                      </a:r>
                    </a:p>
                  </a:txBody>
                  <a:tcPr anchor="ctr">
                    <a:solidFill>
                      <a:schemeClr val="bg1"/>
                    </a:solidFill>
                  </a:tcPr>
                </a:tc>
                <a:extLst>
                  <a:ext uri="{0D108BD9-81ED-4DB2-BD59-A6C34878D82A}">
                    <a16:rowId xmlns="" xmlns:a16="http://schemas.microsoft.com/office/drawing/2014/main" val="2929712276"/>
                  </a:ext>
                </a:extLst>
              </a:tr>
            </a:tbl>
          </a:graphicData>
        </a:graphic>
      </p:graphicFrame>
      <p:sp>
        <p:nvSpPr>
          <p:cNvPr id="6" name="Action Button: Return 5">
            <a:hlinkClick r:id="rId2" action="ppaction://hlinksldjump" highlightClick="1"/>
          </p:cNvPr>
          <p:cNvSpPr/>
          <p:nvPr/>
        </p:nvSpPr>
        <p:spPr>
          <a:xfrm>
            <a:off x="9724292" y="129503"/>
            <a:ext cx="1529862" cy="1055077"/>
          </a:xfrm>
          <a:prstGeom prst="actionButtonRetur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26008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TotalTime>
  <Words>348</Words>
  <Application>Microsoft Office PowerPoint</Application>
  <PresentationFormat>Widescreen</PresentationFormat>
  <Paragraphs>57</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Times New Roman</vt:lpstr>
      <vt:lpstr>Wingdings</vt:lpstr>
      <vt:lpstr>Office Theme</vt:lpstr>
      <vt:lpstr>BỐ CỤC MỘT BÀI THUYẾT TRÌNH</vt:lpstr>
      <vt:lpstr>Giới thiệu</vt:lpstr>
      <vt:lpstr>Phần mở đầu</vt:lpstr>
      <vt:lpstr>Phần chính</vt:lpstr>
      <vt:lpstr>Phần kết</vt:lpstr>
      <vt:lpstr>Cám ơn sự chú ý của quý vị</vt:lpstr>
      <vt:lpstr>Ví dụ: sử dụng một đoạn trích dẫn khi giới thiệu</vt:lpstr>
      <vt:lpstr>  Ví dụ minh chứng một vấn đề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Windows User</cp:lastModifiedBy>
  <cp:revision>22</cp:revision>
  <dcterms:created xsi:type="dcterms:W3CDTF">2026-02-04T09:47:56Z</dcterms:created>
  <dcterms:modified xsi:type="dcterms:W3CDTF">2026-02-05T01:45:45Z</dcterms:modified>
</cp:coreProperties>
</file>